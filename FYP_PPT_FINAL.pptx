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1" ContentType="image/jpeg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7" r:id="rId2"/>
    <p:sldId id="259" r:id="rId3"/>
    <p:sldId id="260" r:id="rId4"/>
    <p:sldId id="264" r:id="rId5"/>
    <p:sldId id="266" r:id="rId6"/>
    <p:sldId id="268" r:id="rId7"/>
    <p:sldId id="261" r:id="rId8"/>
    <p:sldId id="265" r:id="rId9"/>
    <p:sldId id="267" r:id="rId10"/>
    <p:sldId id="269" r:id="rId11"/>
    <p:sldId id="271" r:id="rId12"/>
    <p:sldId id="272" r:id="rId13"/>
    <p:sldId id="273" r:id="rId14"/>
    <p:sldId id="274" r:id="rId15"/>
    <p:sldId id="275" r:id="rId16"/>
    <p:sldId id="277" r:id="rId17"/>
    <p:sldId id="278" r:id="rId18"/>
    <p:sldId id="279" r:id="rId19"/>
    <p:sldId id="276" r:id="rId20"/>
    <p:sldId id="281" r:id="rId21"/>
    <p:sldId id="280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BB8187-2CBC-46DB-8D15-09EE7F4080D2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FEEAEC-541F-4CF7-9361-F2125A192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070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FEEAEC-541F-4CF7-9361-F2125A192F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642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https://arxiv.org/abs/1511.08458</a:t>
            </a:r>
          </a:p>
          <a:p>
            <a:pPr marL="228600" indent="-228600">
              <a:buAutoNum type="arabicPeriod"/>
            </a:pPr>
            <a:r>
              <a:rPr lang="en-US" dirty="0"/>
              <a:t>https://arxiv.org/abs/1912.05911</a:t>
            </a:r>
          </a:p>
          <a:p>
            <a:pPr marL="228600" indent="-228600">
              <a:buAutoNum type="arabicPeriod"/>
            </a:pPr>
            <a:r>
              <a:rPr lang="en-US" dirty="0"/>
              <a:t>https://arxiv.org/abs/1706.03762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2023BC-6B5C-4DF5-AFF9-B68617B71ED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2925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https://en.wikipedia.org/wiki/Pressurized_water_reactor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2023BC-6B5C-4DF5-AFF9-B68617B71ED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6371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 https://www.nature.com/articles/s41597-022-01879-1</a:t>
            </a:r>
          </a:p>
          <a:p>
            <a:r>
              <a:rPr lang="en-US" dirty="0"/>
              <a:t>7. https://github.com/thu-inet/NuclearPowerPlantAccidentData/tree/main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2023BC-6B5C-4DF5-AFF9-B68617B71ED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260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AE175-8286-41F1-AFC1-5160B322E5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1CE116-B23F-4CD9-9CF4-0002A18C37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99E5E-332B-4C57-8BE1-F2244B0EC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DA689-5350-41E1-B597-CD4AE6419CED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C0E8A-E069-4E02-B69C-C34E8FBBC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6AEE7-3E3F-414F-BF18-7696A16E4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F8810-09DD-4DC3-874A-911F7CFE0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580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323FA-4CB1-43E4-8325-03108510B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5B585-61A0-41A7-B7E1-E120F2BFE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0984-773D-4187-BE91-89EFEA700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DA689-5350-41E1-B597-CD4AE6419CED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493E8-7D1D-4B6F-B965-A6F9307BF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448C66-675F-4F43-9A6D-66A967B08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F8810-09DD-4DC3-874A-911F7CFE0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983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C07DC-8F28-4F9C-80CB-344650EF6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2D9291-0A8A-4CEE-91F6-4936B75F01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D11E5-782C-4E50-B63F-730EBF4DE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DA689-5350-41E1-B597-CD4AE6419CED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3742A-E7A6-4CA7-BAD1-285737FE8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27A4B-A0AA-4856-B16D-38DB61CA7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F8810-09DD-4DC3-874A-911F7CFE0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629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D52B3-79D0-4273-A1F8-49701857B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0F9D6-E609-4D56-B51E-2D59B87BE2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92D404-EBD5-48FA-A14B-0EDF828DC4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112040-836D-422F-A44D-60810E6A2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DA689-5350-41E1-B597-CD4AE6419CED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1F6884-929F-437A-A509-0AA03E4D0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CA824E-B0EE-4C30-8DCD-F48675848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F8810-09DD-4DC3-874A-911F7CFE0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967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2455A-8391-4280-B32A-352CC82D8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34286-6C72-4106-96EA-9DF2D6501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073E2C-0C88-4148-B9AD-2DCB19C82B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E0ADD4-A65F-49F7-831C-BFCFAD763A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E37151-82AC-4F68-B084-E41F71B670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DE0886-E20D-4F92-9503-D5AD2C536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DA689-5350-41E1-B597-CD4AE6419CED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A4CE0-786F-41FB-99B8-C833D215F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51437A-CDB5-496F-8078-AC9E3E94B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F8810-09DD-4DC3-874A-911F7CFE0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916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6266A-A87D-4924-BCC8-720BBC461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712922-E19A-4E82-97BF-D8034C7A8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DA689-5350-41E1-B597-CD4AE6419CED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85BD06-73C9-4ADE-AAC2-1A53E79EF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8D8E77-E6AB-430D-B693-157AD1BF4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F8810-09DD-4DC3-874A-911F7CFE0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69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A9F50D-B3DC-47D3-82D8-17B89B1D4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DA689-5350-41E1-B597-CD4AE6419CED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3F6DE7-5057-438D-B9C4-25DF78B35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DD5C84-D7C6-4729-82DF-C7A8FBE81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F8810-09DD-4DC3-874A-911F7CFE0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924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249E1-00F6-4DBF-93FE-0F8B62308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BD93B-A6F0-4CA5-9D6A-5CBEB22E9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CD3B3E-A5CF-45B6-A1FA-919EC940DB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DBF8B-A4C1-44FE-B273-4E3759D4D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DA689-5350-41E1-B597-CD4AE6419CED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5FF8CA-2E85-4294-9509-1677B5B50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39B9FE-4323-462C-9EEA-F34A8DF2A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F8810-09DD-4DC3-874A-911F7CFE0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575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47FEF-6A93-4AE2-B01E-374592DFA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C21A32-515A-4BCB-A5A7-F9F2C8F315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DA35D2-B65B-4C17-95FD-0BE0C8A809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36539B-6D99-49EE-B0FB-92D2D31D5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DA689-5350-41E1-B597-CD4AE6419CED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B5DC1D-3D10-41F5-BCB6-736CF9998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50C463-DA61-40C7-BDF4-62C9A9D1C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F8810-09DD-4DC3-874A-911F7CFE0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335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94470-C6C6-44B5-82B9-00523157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962E75-5CCD-4B2A-BD44-0CE2BCE68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AB376-740B-4F19-9299-E14FC7A3B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DA689-5350-41E1-B597-CD4AE6419CED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B13A7-C446-42E0-8BB4-1817D73A8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C8708-7B3C-40A6-84BC-09C13594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F8810-09DD-4DC3-874A-911F7CFE0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864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FAA9E8-260D-4180-AE8B-F38E7ADC03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F71B80-CBBC-409E-B811-C585222BA2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993CAA-C4CA-47A9-A3AE-0319E4F2B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DA689-5350-41E1-B597-CD4AE6419CED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31BDA9-4654-4ED4-BB13-3154EB999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9B4D8-6759-4941-B308-1C1841BBC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F8810-09DD-4DC3-874A-911F7CFE0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441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664C60-289B-4D46-BADB-CFA74160D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6C0737-4212-4D0F-9404-1412B4999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E3D2A-3ED1-49A8-98EB-20E1859F5B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3DA689-5350-41E1-B597-CD4AE6419CED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C8B32-FA20-4B58-B569-EB29554647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658C1-9808-44D5-96AE-379DE142FB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F8810-09DD-4DC3-874A-911F7CFE0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729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1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rawpixel.com/image/433913/free-photo-image-nuclear-energy-factory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abs/1511.08458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oFhA62HBbNCYcPaVACnpXf3kewtud_g4?usp=sharing" TargetMode="External"/><Relationship Id="rId2" Type="http://schemas.openxmlformats.org/officeDocument/2006/relationships/hyperlink" Target="https://colab.research.google.com/drive/1ZwPpMr06Ad2Uepk_dzVjvoTaDGWenNmI?usp=sharing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rive.google.com/drive/folders/1KkLwm1YEdo8zUuavMGWhISLVXSSmiUvz?usp=drive_link" TargetMode="Externa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82D25-ED0A-4055-B749-BEDBA93C1F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2528" y="2743200"/>
            <a:ext cx="11726944" cy="1613556"/>
          </a:xfrm>
        </p:spPr>
        <p:txBody>
          <a:bodyPr>
            <a:noAutofit/>
          </a:bodyPr>
          <a:lstStyle/>
          <a:p>
            <a:r>
              <a:rPr lang="en-US" sz="3600" b="1" u="sng" dirty="0">
                <a:latin typeface="Arial" panose="020B0604020202020204" pitchFamily="34" charset="0"/>
                <a:cs typeface="Arial" panose="020B0604020202020204" pitchFamily="34" charset="0"/>
              </a:rPr>
              <a:t>DEVELOPMENT OF AN ANOMALY DETECTION SYSTEM FOR NUCLEAR POWER PLANTS USING TRANSFORMER MODELS</a:t>
            </a:r>
            <a:endParaRPr lang="en-US" sz="36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DFE405-C9BB-48A2-A8B3-1D8BBFD46E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8932" y="4590174"/>
            <a:ext cx="6894136" cy="1424126"/>
          </a:xfrm>
        </p:spPr>
        <p:txBody>
          <a:bodyPr>
            <a:noAutofit/>
          </a:bodyPr>
          <a:lstStyle/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By:</a:t>
            </a:r>
          </a:p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Muhammad Daniyal Nazeer</a:t>
            </a:r>
          </a:p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BS Physics 21-25</a:t>
            </a:r>
          </a:p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Supervisor: Dr. Asifullah Khan, DCIS</a:t>
            </a:r>
          </a:p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Co-Supervisor: Dr. Awais Zahur, DNE</a:t>
            </a:r>
          </a:p>
        </p:txBody>
      </p:sp>
      <p:pic>
        <p:nvPicPr>
          <p:cNvPr id="1026" name="Picture 2" descr="PIEAS">
            <a:extLst>
              <a:ext uri="{FF2B5EF4-FFF2-40B4-BE49-F238E27FC236}">
                <a16:creationId xmlns:a16="http://schemas.microsoft.com/office/drawing/2014/main" id="{D03380AA-671F-4808-924E-D51853494E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506691"/>
            <a:ext cx="21336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1339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D27BB-EFB9-4EE7-BE2A-F2C0E2420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PRESENTATION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7296E-BCAC-4247-A76F-878AF6B48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1915" y="1882186"/>
            <a:ext cx="10515600" cy="4610689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INTRODUCTION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Nuclear Power Plants and their safety ensurance.</a:t>
            </a:r>
          </a:p>
          <a:p>
            <a:pPr algn="just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Need for an Anomaly Detection System.</a:t>
            </a:r>
          </a:p>
          <a:p>
            <a:pPr algn="just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LITERATURE REVIEW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Pressurized Water Reactor &amp; It’s related accidents.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Deep learning architectures study.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Papers review.</a:t>
            </a:r>
          </a:p>
          <a:p>
            <a:pPr algn="just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Data Extraction.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Preprocessing.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Model Implementations.</a:t>
            </a:r>
          </a:p>
          <a:p>
            <a:pPr algn="just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  <a:p>
            <a:pPr algn="just"/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D92D10-0346-40AD-8306-716B2A7E6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5910606"/>
            <a:ext cx="3106918" cy="810869"/>
          </a:xfrm>
        </p:spPr>
        <p:txBody>
          <a:bodyPr/>
          <a:lstStyle/>
          <a:p>
            <a:r>
              <a:rPr lang="en-US" sz="2400" b="1" dirty="0"/>
              <a:t>1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0F3022-0326-4957-A267-09D8DCCA5202}"/>
              </a:ext>
            </a:extLst>
          </p:cNvPr>
          <p:cNvCxnSpPr/>
          <p:nvPr/>
        </p:nvCxnSpPr>
        <p:spPr>
          <a:xfrm>
            <a:off x="952107" y="1461155"/>
            <a:ext cx="10275217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4533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26EE7-13C8-460C-AA74-7B68A5335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EF13F-74EC-4680-A8C5-E5DBCC329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00481"/>
            <a:ext cx="5854831" cy="309067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Significance of Nuclear Power Plants (NPPs).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Challenges with NPPs.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Need for safety systems.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78D39C-0193-46FA-BBFA-C5428A8F2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2400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AAE03E-2DEA-409A-9A23-E86FC1B5DB58}"/>
              </a:ext>
            </a:extLst>
          </p:cNvPr>
          <p:cNvCxnSpPr>
            <a:cxnSpLocks/>
          </p:cNvCxnSpPr>
          <p:nvPr/>
        </p:nvCxnSpPr>
        <p:spPr>
          <a:xfrm>
            <a:off x="942680" y="1442301"/>
            <a:ext cx="1014324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3C534B45-81E2-424D-97A7-5BE6E907C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123522" y="2091054"/>
            <a:ext cx="3962400" cy="3090672"/>
          </a:xfrm>
          <a:prstGeom prst="rect">
            <a:avLst/>
          </a:prstGeom>
          <a:ln>
            <a:solidFill>
              <a:schemeClr val="accent2">
                <a:lumMod val="75000"/>
              </a:schemeClr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BDA146-AED8-4B70-8CB2-2A78192B8F7A}"/>
              </a:ext>
            </a:extLst>
          </p:cNvPr>
          <p:cNvSpPr txBox="1"/>
          <p:nvPr/>
        </p:nvSpPr>
        <p:spPr>
          <a:xfrm>
            <a:off x="8408710" y="5267618"/>
            <a:ext cx="23095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Source: rawpixel.com</a:t>
            </a:r>
          </a:p>
        </p:txBody>
      </p:sp>
    </p:spTree>
    <p:extLst>
      <p:ext uri="{BB962C8B-B14F-4D97-AF65-F5344CB8AC3E}">
        <p14:creationId xmlns:p14="http://schemas.microsoft.com/office/powerpoint/2010/main" val="1981135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3362B-1528-4AEB-ACD1-7245D538B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FDE28-127E-4E98-9EC1-76B44C128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07631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Main to-find agenda points of this research (project) are:</a:t>
            </a:r>
          </a:p>
          <a:p>
            <a:pPr marL="0" indent="0" algn="just">
              <a:buNone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Develop an anomaly detection system for NPPs.</a:t>
            </a:r>
          </a:p>
          <a:p>
            <a:pPr algn="just"/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After classification success we went for sequential forecasting.</a:t>
            </a:r>
          </a:p>
          <a:p>
            <a:pPr algn="just"/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From simulated readings to real time reading monitoring (Try).</a:t>
            </a:r>
          </a:p>
          <a:p>
            <a:pPr algn="just"/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Ensure safety and efficient operation of NPPs.</a:t>
            </a: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5667F2-0E96-4977-8E21-B65CC6B54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2000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038DC29-9D52-4443-93D3-5B934C0E6649}"/>
              </a:ext>
            </a:extLst>
          </p:cNvPr>
          <p:cNvCxnSpPr>
            <a:cxnSpLocks/>
          </p:cNvCxnSpPr>
          <p:nvPr/>
        </p:nvCxnSpPr>
        <p:spPr>
          <a:xfrm>
            <a:off x="961534" y="1451728"/>
            <a:ext cx="1000183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757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DCA92-6C15-444E-BC1D-78E8B800F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66311-E245-438D-BC39-431325A3F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505" y="2306391"/>
            <a:ext cx="5025272" cy="3472239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Why Pressurized Water Reactors?</a:t>
            </a:r>
          </a:p>
          <a:p>
            <a:pPr algn="just">
              <a:lnSpc>
                <a:spcPct val="100000"/>
              </a:lnSpc>
            </a:pPr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What potential AI methods are suitable?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MLPs </a:t>
            </a:r>
            <a:r>
              <a:rPr lang="en-US" sz="26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CNNs </a:t>
            </a:r>
            <a:r>
              <a:rPr lang="en-US" sz="26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RNNs (LSTM &amp; GRU) </a:t>
            </a:r>
            <a:r>
              <a:rPr lang="en-US" sz="26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Transformer </a:t>
            </a:r>
            <a:r>
              <a:rPr lang="en-US" sz="26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958DF6-3110-4623-80DA-C9435E1C7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2000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D3A77C6-D6F5-4593-B730-E9E480F75D32}"/>
              </a:ext>
            </a:extLst>
          </p:cNvPr>
          <p:cNvCxnSpPr/>
          <p:nvPr/>
        </p:nvCxnSpPr>
        <p:spPr>
          <a:xfrm>
            <a:off x="952107" y="1508289"/>
            <a:ext cx="1013381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050" name="Picture 2" descr="What is AI networking? How it automates your infrastructure (but faces  challenges) | Network World">
            <a:extLst>
              <a:ext uri="{FF2B5EF4-FFF2-40B4-BE49-F238E27FC236}">
                <a16:creationId xmlns:a16="http://schemas.microsoft.com/office/drawing/2014/main" id="{CE1E8EFD-6972-4559-A423-9FBB115B72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6094" y="2329892"/>
            <a:ext cx="4429828" cy="3065821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E7DBBE-A3D5-4423-A5E3-8EC183A1FF42}"/>
              </a:ext>
            </a:extLst>
          </p:cNvPr>
          <p:cNvSpPr txBox="1"/>
          <p:nvPr/>
        </p:nvSpPr>
        <p:spPr>
          <a:xfrm>
            <a:off x="7876881" y="5431948"/>
            <a:ext cx="32090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Source: networkworld.com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0CF499-6714-436A-AF00-404AB50C096A}"/>
              </a:ext>
            </a:extLst>
          </p:cNvPr>
          <p:cNvSpPr txBox="1"/>
          <p:nvPr/>
        </p:nvSpPr>
        <p:spPr>
          <a:xfrm>
            <a:off x="182456" y="6169709"/>
            <a:ext cx="89564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https://arxiv.org/abs/1511.08458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	4. </a:t>
            </a:r>
            <a:r>
              <a:rPr lang="en-US" sz="1200" u="sng" dirty="0">
                <a:latin typeface="Arial" panose="020B0604020202020204" pitchFamily="34" charset="0"/>
                <a:cs typeface="Arial" panose="020B0604020202020204" pitchFamily="34" charset="0"/>
              </a:rPr>
              <a:t>https://arxiv.org/abs/1404.7828</a:t>
            </a:r>
          </a:p>
          <a:p>
            <a:pPr marL="228600" indent="-228600">
              <a:buAutoNum type="arabicPeriod"/>
            </a:pPr>
            <a:r>
              <a:rPr lang="en-US" sz="1200" u="sng" dirty="0">
                <a:latin typeface="Arial" panose="020B0604020202020204" pitchFamily="34" charset="0"/>
                <a:cs typeface="Arial" panose="020B0604020202020204" pitchFamily="34" charset="0"/>
              </a:rPr>
              <a:t>https://arxiv.org/abs/1912.05911</a:t>
            </a:r>
          </a:p>
          <a:p>
            <a:pPr marL="228600" indent="-228600">
              <a:buAutoNum type="arabicPeriod"/>
            </a:pPr>
            <a:r>
              <a:rPr lang="en-US" sz="1200" u="sng" dirty="0">
                <a:latin typeface="Arial" panose="020B0604020202020204" pitchFamily="34" charset="0"/>
                <a:cs typeface="Arial" panose="020B0604020202020204" pitchFamily="34" charset="0"/>
              </a:rPr>
              <a:t>https://arxiv.org/abs/1706.03762</a:t>
            </a:r>
          </a:p>
        </p:txBody>
      </p:sp>
    </p:spTree>
    <p:extLst>
      <p:ext uri="{BB962C8B-B14F-4D97-AF65-F5344CB8AC3E}">
        <p14:creationId xmlns:p14="http://schemas.microsoft.com/office/powerpoint/2010/main" val="3223043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71F09-6378-453D-AF8F-B2135AE29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PRESSURIZED WATER REACTORS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2A798-E2B7-40F7-B5B7-65A967F1B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23581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 type of nuclear reactor where water is used as both a coolant and a moderator, operating at high pressure to prevent boiling, ensuring efficient heat transfer to generate electricity. </a:t>
            </a:r>
            <a:r>
              <a:rPr lang="en-US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pPr marL="0" indent="0" algn="just">
              <a:buNone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Major Components:</a:t>
            </a:r>
          </a:p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Pressurizer</a:t>
            </a:r>
          </a:p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Pressure Vessel</a:t>
            </a:r>
          </a:p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Recirculation Pumps</a:t>
            </a:r>
          </a:p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Steam Generators</a:t>
            </a:r>
          </a:p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Containment Building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2A7723-4B66-40F1-80FB-F23DA1AD8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2000" dirty="0">
                <a:solidFill>
                  <a:schemeClr val="tx1"/>
                </a:solidFill>
              </a:rPr>
              <a:t>5</a:t>
            </a:r>
            <a:endParaRPr lang="en-US" sz="2400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0110892-32C7-481F-9164-E64F2CB10AD9}"/>
              </a:ext>
            </a:extLst>
          </p:cNvPr>
          <p:cNvCxnSpPr/>
          <p:nvPr/>
        </p:nvCxnSpPr>
        <p:spPr>
          <a:xfrm>
            <a:off x="933254" y="1470581"/>
            <a:ext cx="1021865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1195D82-C1F8-435C-A6B5-2A5CA0045F86}"/>
              </a:ext>
            </a:extLst>
          </p:cNvPr>
          <p:cNvSpPr txBox="1"/>
          <p:nvPr/>
        </p:nvSpPr>
        <p:spPr>
          <a:xfrm>
            <a:off x="285750" y="6356350"/>
            <a:ext cx="7372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u="sng" dirty="0">
                <a:latin typeface="Arial" panose="020B0604020202020204" pitchFamily="34" charset="0"/>
                <a:cs typeface="Arial" panose="020B0604020202020204" pitchFamily="34" charset="0"/>
              </a:rPr>
              <a:t>4. https://en.wikipedia.org/wiki/Pressurized_water_reactor</a:t>
            </a:r>
          </a:p>
        </p:txBody>
      </p:sp>
    </p:spTree>
    <p:extLst>
      <p:ext uri="{BB962C8B-B14F-4D97-AF65-F5344CB8AC3E}">
        <p14:creationId xmlns:p14="http://schemas.microsoft.com/office/powerpoint/2010/main" val="394374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79C2A-207A-422E-8014-2CC820424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CONT’d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7CE6C0-CB63-43EA-9BA8-0C0A49337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2000" dirty="0">
                <a:solidFill>
                  <a:schemeClr val="tx1"/>
                </a:solidFill>
              </a:rPr>
              <a:t>6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5DEFC8D-FBAC-4A72-AA50-5E04B1A01AC5}"/>
              </a:ext>
            </a:extLst>
          </p:cNvPr>
          <p:cNvCxnSpPr>
            <a:cxnSpLocks/>
          </p:cNvCxnSpPr>
          <p:nvPr/>
        </p:nvCxnSpPr>
        <p:spPr>
          <a:xfrm>
            <a:off x="1150070" y="1451728"/>
            <a:ext cx="899405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0DBB6BE-9434-483E-AD8A-5BD5E7AAFEBF}"/>
              </a:ext>
            </a:extLst>
          </p:cNvPr>
          <p:cNvSpPr txBox="1"/>
          <p:nvPr/>
        </p:nvSpPr>
        <p:spPr>
          <a:xfrm>
            <a:off x="4260917" y="5987018"/>
            <a:ext cx="39592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Pressurized Water Reactor Structure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Source: ResearchGate.com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76F5980-A333-4144-BC53-62DD2BEFA1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875" y="1748393"/>
            <a:ext cx="8096250" cy="4238625"/>
          </a:xfrm>
          <a:ln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4018464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D1735-E81B-401C-B341-63A1F0C73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727"/>
            <a:ext cx="10515600" cy="731674"/>
          </a:xfrm>
        </p:spPr>
        <p:txBody>
          <a:bodyPr/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ACCIDENTS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17F40-CEF3-457D-84DB-358DBFC0E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6666"/>
            <a:ext cx="10515600" cy="541777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17 types of accidents in a Pressurized Water Reactor (PWR) :</a:t>
            </a:r>
          </a:p>
          <a:p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LOCA ( Loss-of-Coolant Accident )</a:t>
            </a:r>
          </a:p>
          <a:p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LOCAC ( Loss of Coolant Accident – Cold Leg )</a:t>
            </a:r>
          </a:p>
          <a:p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SLBIC ( Steam Line Break Inside Containment )</a:t>
            </a:r>
          </a:p>
          <a:p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SLBOC ( Steam Line Break Outside Containment )</a:t>
            </a:r>
          </a:p>
          <a:p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SGATR ( Steam Generator A Tube Rupture ) </a:t>
            </a:r>
          </a:p>
          <a:p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SGBTR ( Steam Generator B Tube Rupture )</a:t>
            </a:r>
          </a:p>
          <a:p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RW ( Rod Withdrawal )</a:t>
            </a:r>
          </a:p>
          <a:p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TT ( Turbine Trip)</a:t>
            </a:r>
          </a:p>
          <a:p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RI ( Rod Insertion )</a:t>
            </a:r>
          </a:p>
          <a:p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FLB ( Feed Water Line Break )</a:t>
            </a:r>
          </a:p>
          <a:p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MD ( Moderator Dilution )</a:t>
            </a:r>
          </a:p>
          <a:p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LR ( Load Rejection )</a:t>
            </a:r>
          </a:p>
          <a:p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LLB ( Letdown Line Break Auxiliary )</a:t>
            </a:r>
          </a:p>
          <a:p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SP ( Spark Presence for Hydrogen Burn )</a:t>
            </a:r>
          </a:p>
          <a:p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LCAP ( Loss of AC Power )</a:t>
            </a:r>
          </a:p>
          <a:p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LOF ( Loss of Flow )</a:t>
            </a:r>
          </a:p>
          <a:p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ATWS ( Anticipated Transient Without Scram )</a:t>
            </a:r>
          </a:p>
          <a:p>
            <a:endParaRPr lang="en-US" sz="13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D44C03F-0D4B-4608-ABA0-9F348DB6EA28}"/>
              </a:ext>
            </a:extLst>
          </p:cNvPr>
          <p:cNvCxnSpPr/>
          <p:nvPr/>
        </p:nvCxnSpPr>
        <p:spPr>
          <a:xfrm>
            <a:off x="923827" y="942682"/>
            <a:ext cx="1013381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2B04FEA2-7230-49FE-9A57-90263B0BAB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1062" y="1897149"/>
            <a:ext cx="5446580" cy="3063701"/>
          </a:xfrm>
          <a:prstGeom prst="rect">
            <a:avLst/>
          </a:prstGeom>
          <a:ln>
            <a:solidFill>
              <a:schemeClr val="accent2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F83507A-E310-4EF2-98FB-C3D1419BD765}"/>
              </a:ext>
            </a:extLst>
          </p:cNvPr>
          <p:cNvSpPr txBox="1"/>
          <p:nvPr/>
        </p:nvSpPr>
        <p:spPr>
          <a:xfrm>
            <a:off x="6975837" y="5108501"/>
            <a:ext cx="3469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Source: understandingsociety.blog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FB6D44-13BA-4131-B8BD-B0E1AA1FD9FA}"/>
              </a:ext>
            </a:extLst>
          </p:cNvPr>
          <p:cNvSpPr/>
          <p:nvPr/>
        </p:nvSpPr>
        <p:spPr>
          <a:xfrm>
            <a:off x="11057642" y="6213608"/>
            <a:ext cx="76987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0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7769652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64333-E5FA-47BE-B7A2-8A7050495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PAPERS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920D3-6E13-4C8E-909D-7295D9ED1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88676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Mainly the following research papers and articles were reviewed to support and inform the development of this project.</a:t>
            </a:r>
          </a:p>
          <a:p>
            <a:pPr algn="just"/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Qi, B., Wang, Y., Xiao, X., &amp; Liang, J. (2024, August). Underlying Deep Learning Networks Diagnosis Evaluation and Generative Adversarial Network Data Augmentation Based on a Benchmark Accident Dataset. In </a:t>
            </a:r>
            <a:r>
              <a:rPr lang="en-US" sz="1700" i="1" dirty="0">
                <a:latin typeface="Arial" panose="020B0604020202020204" pitchFamily="34" charset="0"/>
                <a:cs typeface="Arial" panose="020B0604020202020204" pitchFamily="34" charset="0"/>
              </a:rPr>
              <a:t>International Conference on Nuclear Engineering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 (Vol. 88254, p. V005T05A019). American Society of Mechanical Engineers.</a:t>
            </a:r>
          </a:p>
          <a:p>
            <a:pPr algn="just"/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Yi, S., Zheng, S., Yang, S., Zhou, G., &amp; He, J. (2024). Robust transformer-based anomaly detection for nuclear power data using maximum correntropy criterion. Nuclear Engineering and Technology, 56(4), 1284-1295.</a:t>
            </a:r>
          </a:p>
          <a:p>
            <a:pPr algn="just"/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Hou, J., Ni, K., &amp; Hawari, A. (2019). An artificial neural network based anomaly detection algorithm for nuclear power plants. Transactions, 120(1), 219-222.</a:t>
            </a:r>
          </a:p>
          <a:p>
            <a:pPr algn="just"/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Qi, B., Xiao, X., Liang, J., Po, L. C. C., Zhang, L., &amp; Tong, J. (2022). An open time-series simulated dataset covering various accidents for nuclear power plants. Scientific data, 9(1), 766.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C0C3BF2-B485-4706-B0E0-97500663959D}"/>
              </a:ext>
            </a:extLst>
          </p:cNvPr>
          <p:cNvCxnSpPr>
            <a:cxnSpLocks/>
          </p:cNvCxnSpPr>
          <p:nvPr/>
        </p:nvCxnSpPr>
        <p:spPr>
          <a:xfrm>
            <a:off x="961534" y="1423450"/>
            <a:ext cx="10303497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445E420-0A5C-4D8B-9CF1-15A38FCE8B0C}"/>
              </a:ext>
            </a:extLst>
          </p:cNvPr>
          <p:cNvSpPr/>
          <p:nvPr/>
        </p:nvSpPr>
        <p:spPr>
          <a:xfrm>
            <a:off x="11265031" y="6308209"/>
            <a:ext cx="7007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405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3C478-BFE8-4CA9-B44D-61E41B692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 LEARNING ARCHITECTURES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5AFEF59-E0FD-41A8-B0F8-ABB1D0FEBA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8619581"/>
              </p:ext>
            </p:extLst>
          </p:nvPr>
        </p:nvGraphicFramePr>
        <p:xfrm>
          <a:off x="838200" y="2010352"/>
          <a:ext cx="10515600" cy="4023360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18793022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1380057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811665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STRENGTHS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 CASE FOR DATASET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9104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MLPs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Easy to use, fast to train, handles general data well.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Used as a staring point to see how basic models perform.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3676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CNNs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Good at feature extraction and have Hierarchical learning.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Helps detect sudden changes or patterns in sensor readings. (But had to add a extra channel)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8386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US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LSTM/GRU</a:t>
                      </a:r>
                      <a:endParaRPr 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Good at remembering past information over time.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Helps track how an accident develops step by step over time.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32959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Transformer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Very Strong at understanding long sequences and overall patterns across all time steps.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Best for both identifying the accident type and predicting future data.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9715588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86B80E8-2C5F-4EE4-AE16-46C50270A464}"/>
              </a:ext>
            </a:extLst>
          </p:cNvPr>
          <p:cNvCxnSpPr>
            <a:cxnSpLocks/>
          </p:cNvCxnSpPr>
          <p:nvPr/>
        </p:nvCxnSpPr>
        <p:spPr>
          <a:xfrm>
            <a:off x="961534" y="1423450"/>
            <a:ext cx="10392266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FA81117B-A0D4-41FA-B525-7B7DAAC70DAA}"/>
              </a:ext>
            </a:extLst>
          </p:cNvPr>
          <p:cNvSpPr/>
          <p:nvPr/>
        </p:nvSpPr>
        <p:spPr>
          <a:xfrm>
            <a:off x="11167607" y="6308209"/>
            <a:ext cx="5404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5447687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62BCA-E9D4-4D38-8045-E6508AD98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505" y="2084420"/>
            <a:ext cx="3658386" cy="2689160"/>
          </a:xfrm>
        </p:spPr>
        <p:txBody>
          <a:bodyPr>
            <a:normAutofit/>
          </a:bodyPr>
          <a:lstStyle/>
          <a:p>
            <a:pPr algn="just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Following Python script was coded for extracting the data from repository.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7DC4700-6B22-4F4E-8786-BE9632520D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963363" y="59391"/>
            <a:ext cx="7131227" cy="6739218"/>
          </a:xfrm>
          <a:prstGeom prst="rect">
            <a:avLst/>
          </a:prstGeom>
          <a:ln>
            <a:solidFill>
              <a:schemeClr val="accent2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0DF8252-C620-4103-A9BB-4053743514EF}"/>
              </a:ext>
            </a:extLst>
          </p:cNvPr>
          <p:cNvSpPr/>
          <p:nvPr/>
        </p:nvSpPr>
        <p:spPr>
          <a:xfrm>
            <a:off x="414780" y="6306532"/>
            <a:ext cx="4587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490021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80708-468F-4F91-96AA-5D5CD61CD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68FE2-BA08-440A-87CF-26979EA9C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72775" cy="401899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NPPAD Dataset Overview (Nuclear Power Plant Accident Dataset) </a:t>
            </a:r>
            <a:r>
              <a:rPr lang="en-US" baseline="30000" dirty="0"/>
              <a:t>6</a:t>
            </a:r>
          </a:p>
          <a:p>
            <a:r>
              <a:rPr lang="en-US" dirty="0"/>
              <a:t>A open source simulated dataset using PCTRAN (Simulation Software) </a:t>
            </a:r>
            <a:r>
              <a:rPr lang="en-US" baseline="30000" dirty="0"/>
              <a:t>7</a:t>
            </a:r>
          </a:p>
          <a:p>
            <a:r>
              <a:rPr lang="en-US" dirty="0"/>
              <a:t>Data Arrangement: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Root_directory / sub_directories (NORM, LOCA, LOCAC, SLBIC, SLBOC, SGATR, SGBTR, RW, RI, FLB, MD, LR, LLB, SP, LACP, LOF &amp; ATWS)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Inside each of these sub_directories we have 100’s of csv files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 Sub_directories / 1.csv, 2.csv.3.csv …. K.csv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Each CSV file has around shape of (</a:t>
            </a:r>
            <a:r>
              <a:rPr lang="en-US" sz="1700" dirty="0"/>
              <a:t>~</a:t>
            </a:r>
            <a:r>
              <a:rPr lang="en-US" dirty="0"/>
              <a:t> 400, </a:t>
            </a:r>
            <a:r>
              <a:rPr lang="en-US" sz="1700" dirty="0"/>
              <a:t>~ </a:t>
            </a:r>
            <a:r>
              <a:rPr lang="en-US" dirty="0"/>
              <a:t>95) 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A1FDD9-5C07-4C73-8FA0-5777CE3E5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2000" dirty="0">
                <a:solidFill>
                  <a:schemeClr val="tx1"/>
                </a:solidFill>
              </a:rPr>
              <a:t>11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C85F5FD-ED30-470D-A61E-92F9F1F9284A}"/>
              </a:ext>
            </a:extLst>
          </p:cNvPr>
          <p:cNvCxnSpPr>
            <a:cxnSpLocks/>
          </p:cNvCxnSpPr>
          <p:nvPr/>
        </p:nvCxnSpPr>
        <p:spPr>
          <a:xfrm>
            <a:off x="942680" y="1404594"/>
            <a:ext cx="1041112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C2908694-E1DC-43DB-B63E-879BE1D71E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680" y="5207923"/>
            <a:ext cx="9869277" cy="771633"/>
          </a:xfrm>
          <a:prstGeom prst="rect">
            <a:avLst/>
          </a:prstGeom>
          <a:ln>
            <a:solidFill>
              <a:schemeClr val="accent2">
                <a:lumMod val="50000"/>
              </a:schemeClr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9784359-7105-4C64-A0D2-4FDABF761D1F}"/>
              </a:ext>
            </a:extLst>
          </p:cNvPr>
          <p:cNvSpPr txBox="1"/>
          <p:nvPr/>
        </p:nvSpPr>
        <p:spPr>
          <a:xfrm>
            <a:off x="657225" y="6267450"/>
            <a:ext cx="9515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u="sng" dirty="0">
                <a:latin typeface="Arial" panose="020B0604020202020204" pitchFamily="34" charset="0"/>
                <a:cs typeface="Arial" panose="020B0604020202020204" pitchFamily="34" charset="0"/>
              </a:rPr>
              <a:t>6. https://www.nature.com/articles/s41597-022-01879-1</a:t>
            </a:r>
          </a:p>
          <a:p>
            <a:r>
              <a:rPr lang="en-US" sz="1200" u="sng" dirty="0">
                <a:latin typeface="Arial" panose="020B0604020202020204" pitchFamily="34" charset="0"/>
                <a:cs typeface="Arial" panose="020B0604020202020204" pitchFamily="34" charset="0"/>
              </a:rPr>
              <a:t>7. https://github.com/thu-inet/NuclearPowerPlantAccidentData/tree/main</a:t>
            </a:r>
          </a:p>
        </p:txBody>
      </p:sp>
    </p:spTree>
    <p:extLst>
      <p:ext uri="{BB962C8B-B14F-4D97-AF65-F5344CB8AC3E}">
        <p14:creationId xmlns:p14="http://schemas.microsoft.com/office/powerpoint/2010/main" val="3563246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877CEF7-CB41-4BFC-AE94-D799CCB389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76421" y="72652"/>
            <a:ext cx="6680462" cy="67126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F6BD4C0-4E6A-4E4E-8CF8-252C24912F50}"/>
                  </a:ext>
                </a:extLst>
              </p:cNvPr>
              <p:cNvSpPr txBox="1"/>
              <p:nvPr/>
            </p:nvSpPr>
            <p:spPr>
              <a:xfrm>
                <a:off x="135117" y="732528"/>
                <a:ext cx="5021345" cy="5596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sz="17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Loads and processes CSV files from subfolders in the operation_csv_data directory where each folder represents a different class/label.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sz="1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sz="17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Validates and reshapes data to ensure each sequence has exactly 96 features and 96 time steps; sequences not meeting this criteria are skipped.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sz="1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sz="17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Assigns labels to each folder using a custom mapping and stores valid sequences in a NumPy array format.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sz="1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sz="17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Returns final dataset of shape x (num_samples, 96, 96) and y (corresponding labels)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sz="1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sz="17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Normalized the data using:</a:t>
                </a:r>
              </a:p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7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7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sz="17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𝒏𝒆𝒘</m:t>
                          </m:r>
                        </m:sub>
                      </m:sSub>
                      <m:r>
                        <a:rPr lang="en-US" sz="17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17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sz="17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  <m:r>
                            <a:rPr lang="en-US" sz="17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− </m:t>
                          </m:r>
                          <m:sSub>
                            <m:sSubPr>
                              <m:ctrlPr>
                                <a:rPr lang="en-US" sz="17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7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sz="17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𝒎𝒊𝒏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7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7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sz="17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𝒎𝒂𝒙</m:t>
                              </m:r>
                            </m:sub>
                          </m:sSub>
                          <m:r>
                            <a:rPr lang="en-US" sz="17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− </m:t>
                          </m:r>
                          <m:sSub>
                            <m:sSubPr>
                              <m:ctrlPr>
                                <a:rPr lang="en-US" sz="17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7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sz="17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𝒎𝒊𝒏</m:t>
                              </m:r>
                            </m:sub>
                          </m:sSub>
                        </m:den>
                      </m:f>
                      <m:r>
                        <a:rPr lang="en-US" sz="17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</m:oMath>
                  </m:oMathPara>
                </a14:m>
                <a:endParaRPr lang="en-US" sz="1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F6BD4C0-4E6A-4E4E-8CF8-252C24912F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117" y="732528"/>
                <a:ext cx="5021345" cy="5596660"/>
              </a:xfrm>
              <a:prstGeom prst="rect">
                <a:avLst/>
              </a:prstGeom>
              <a:blipFill>
                <a:blip r:embed="rId4"/>
                <a:stretch>
                  <a:fillRect l="-607" t="-327" r="-7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F4057DF8-72E9-4648-B998-491E1C183715}"/>
              </a:ext>
            </a:extLst>
          </p:cNvPr>
          <p:cNvSpPr/>
          <p:nvPr/>
        </p:nvSpPr>
        <p:spPr>
          <a:xfrm>
            <a:off x="373916" y="6416016"/>
            <a:ext cx="5593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132049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54B00-8E21-4B50-8914-3BF87E89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 (CLASSIFICATION PART)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09F14-D9DE-42A3-A701-976A1F152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43367" cy="4351338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Multi-Layer Perceptrons (MLPs)</a:t>
            </a:r>
          </a:p>
          <a:p>
            <a:pPr marL="514350" indent="-514350">
              <a:buFont typeface="+mj-lt"/>
              <a:buAutoNum type="arabicPeriod"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Model - 1: Single Layer MLP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Test Accuracy </a:t>
            </a:r>
            <a:r>
              <a:rPr lang="en-US" sz="2500" i="1" dirty="0">
                <a:latin typeface="Arial" panose="020B0604020202020204" pitchFamily="34" charset="0"/>
                <a:cs typeface="Arial" panose="020B0604020202020204" pitchFamily="34" charset="0"/>
              </a:rPr>
              <a:t>92.50%</a:t>
            </a:r>
          </a:p>
          <a:p>
            <a:pPr lvl="1" algn="just"/>
            <a:endParaRPr lang="en-US" sz="25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Model - 2: Two Layer MLP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Test Accuracy </a:t>
            </a:r>
            <a:r>
              <a:rPr lang="en-US" sz="2500" i="1" dirty="0">
                <a:latin typeface="Arial" panose="020B0604020202020204" pitchFamily="34" charset="0"/>
                <a:cs typeface="Arial" panose="020B0604020202020204" pitchFamily="34" charset="0"/>
              </a:rPr>
              <a:t>89.17%</a:t>
            </a:r>
          </a:p>
          <a:p>
            <a:pPr lvl="1" algn="just"/>
            <a:endParaRPr lang="en-US" sz="25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Model - 03: Four Layer MLP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Test Accuracy: </a:t>
            </a:r>
            <a:r>
              <a:rPr lang="en-US" sz="2500" i="1" dirty="0">
                <a:latin typeface="Arial" panose="020B0604020202020204" pitchFamily="34" charset="0"/>
                <a:cs typeface="Arial" panose="020B0604020202020204" pitchFamily="34" charset="0"/>
              </a:rPr>
              <a:t>89.15%</a:t>
            </a:r>
          </a:p>
          <a:p>
            <a:pPr lvl="1" algn="just"/>
            <a:endParaRPr lang="en-US" sz="25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Model - 4: Four Layer MLP with Batch Normalization (BN)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Test Accuracy: </a:t>
            </a:r>
            <a:r>
              <a:rPr lang="en-US" sz="2500" i="1" dirty="0">
                <a:latin typeface="Arial" panose="020B0604020202020204" pitchFamily="34" charset="0"/>
                <a:cs typeface="Arial" panose="020B0604020202020204" pitchFamily="34" charset="0"/>
              </a:rPr>
              <a:t>87.50%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134644D-2E85-4E85-8331-BEFDDEBC31C2}"/>
              </a:ext>
            </a:extLst>
          </p:cNvPr>
          <p:cNvCxnSpPr/>
          <p:nvPr/>
        </p:nvCxnSpPr>
        <p:spPr>
          <a:xfrm>
            <a:off x="942680" y="1404594"/>
            <a:ext cx="1020922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9C516766-73D2-4AA0-B7FC-869E9F3D85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092" y="2118673"/>
            <a:ext cx="4050817" cy="2166523"/>
          </a:xfrm>
          <a:prstGeom prst="rect">
            <a:avLst/>
          </a:prstGeom>
          <a:ln>
            <a:solidFill>
              <a:schemeClr val="accent2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771522-6480-471F-8AD7-7DB196760839}"/>
              </a:ext>
            </a:extLst>
          </p:cNvPr>
          <p:cNvSpPr txBox="1"/>
          <p:nvPr/>
        </p:nvSpPr>
        <p:spPr>
          <a:xfrm>
            <a:off x="8399283" y="4398476"/>
            <a:ext cx="31296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Source: becominghuman.ai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5D8F72-E79B-4C5A-9436-92F4FB32F253}"/>
              </a:ext>
            </a:extLst>
          </p:cNvPr>
          <p:cNvSpPr/>
          <p:nvPr/>
        </p:nvSpPr>
        <p:spPr>
          <a:xfrm>
            <a:off x="11214754" y="6176963"/>
            <a:ext cx="4556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13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8376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48CE7-9F1A-48D5-B07C-FB1A2E741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499" y="365125"/>
            <a:ext cx="11462994" cy="1325563"/>
          </a:xfrm>
        </p:spPr>
        <p:txBody>
          <a:bodyPr>
            <a:normAutofit/>
          </a:bodyPr>
          <a:lstStyle/>
          <a:p>
            <a:pPr algn="just"/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LOSS CURVES CONVERGENCES, CONT’d (MLPs)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9FFEB73-EA7A-45E3-8ECB-C12B6A1253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4496" y="1558714"/>
            <a:ext cx="10903008" cy="4934152"/>
          </a:xfrm>
          <a:prstGeom prst="rect">
            <a:avLst/>
          </a:prstGeom>
          <a:ln>
            <a:solidFill>
              <a:schemeClr val="accent2"/>
            </a:solidFill>
          </a:ln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1D82007-FD17-4E5B-A08E-BF36C3D02AAB}"/>
              </a:ext>
            </a:extLst>
          </p:cNvPr>
          <p:cNvCxnSpPr>
            <a:cxnSpLocks/>
          </p:cNvCxnSpPr>
          <p:nvPr/>
        </p:nvCxnSpPr>
        <p:spPr>
          <a:xfrm>
            <a:off x="509047" y="1404594"/>
            <a:ext cx="1096337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2E9C3E66-92DD-45A7-91F6-5604A169E049}"/>
              </a:ext>
            </a:extLst>
          </p:cNvPr>
          <p:cNvSpPr/>
          <p:nvPr/>
        </p:nvSpPr>
        <p:spPr>
          <a:xfrm>
            <a:off x="11660943" y="6391372"/>
            <a:ext cx="53105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558101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54B00-8E21-4B50-8914-3BF87E89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CONT’d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09F14-D9DE-42A3-A701-976A1F152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269610" cy="4273517"/>
          </a:xfrm>
        </p:spPr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sz="2300" b="1" dirty="0">
                <a:latin typeface="Arial" panose="020B0604020202020204" pitchFamily="34" charset="0"/>
                <a:cs typeface="Arial" panose="020B0604020202020204" pitchFamily="34" charset="0"/>
              </a:rPr>
              <a:t>Convolutional Neural Networks (CNNs)</a:t>
            </a:r>
          </a:p>
          <a:p>
            <a:pPr marL="514350" indent="-514350" algn="just">
              <a:buFont typeface="+mj-lt"/>
              <a:buAutoNum type="arabicPeriod"/>
            </a:pPr>
            <a:endParaRPr lang="en-US" sz="23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US" sz="2300" b="1" dirty="0">
                <a:latin typeface="Arial" panose="020B0604020202020204" pitchFamily="34" charset="0"/>
                <a:cs typeface="Arial" panose="020B0604020202020204" pitchFamily="34" charset="0"/>
              </a:rPr>
              <a:t>First reshaped the input data to add one more dimension (gray-channel). For DenseNet, accuracy plateaus because noticeable flu cations in validation accuracy curves.</a:t>
            </a:r>
          </a:p>
          <a:p>
            <a:pPr marL="0" indent="0" algn="just">
              <a:buNone/>
            </a:pPr>
            <a:endParaRPr lang="en-US" sz="23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7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Model - 1: 05 Layer CNN</a:t>
            </a:r>
          </a:p>
          <a:p>
            <a:pPr lvl="1" algn="just">
              <a:lnSpc>
                <a:spcPct val="7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Test Accuracy: </a:t>
            </a:r>
            <a:r>
              <a:rPr lang="en-US" sz="1900" i="1" dirty="0">
                <a:latin typeface="Arial" panose="020B0604020202020204" pitchFamily="34" charset="0"/>
                <a:cs typeface="Arial" panose="020B0604020202020204" pitchFamily="34" charset="0"/>
              </a:rPr>
              <a:t>75.83%</a:t>
            </a:r>
          </a:p>
          <a:p>
            <a:pPr lvl="1" algn="just">
              <a:lnSpc>
                <a:spcPct val="70000"/>
              </a:lnSpc>
            </a:pP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7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Model - 2: 04 Block DenseNet</a:t>
            </a:r>
          </a:p>
          <a:p>
            <a:pPr lvl="1" algn="just">
              <a:lnSpc>
                <a:spcPct val="7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Test Accuracy: </a:t>
            </a:r>
            <a:r>
              <a:rPr lang="en-US" sz="1900" i="1" dirty="0">
                <a:latin typeface="Arial" panose="020B0604020202020204" pitchFamily="34" charset="0"/>
                <a:cs typeface="Arial" panose="020B0604020202020204" pitchFamily="34" charset="0"/>
              </a:rPr>
              <a:t>54%-56%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134644D-2E85-4E85-8331-BEFDDEBC31C2}"/>
              </a:ext>
            </a:extLst>
          </p:cNvPr>
          <p:cNvCxnSpPr>
            <a:cxnSpLocks/>
          </p:cNvCxnSpPr>
          <p:nvPr/>
        </p:nvCxnSpPr>
        <p:spPr>
          <a:xfrm>
            <a:off x="942680" y="1404594"/>
            <a:ext cx="1085889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5771522-6480-471F-8AD7-7DB196760839}"/>
              </a:ext>
            </a:extLst>
          </p:cNvPr>
          <p:cNvSpPr txBox="1"/>
          <p:nvPr/>
        </p:nvSpPr>
        <p:spPr>
          <a:xfrm>
            <a:off x="8671875" y="5325610"/>
            <a:ext cx="31296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Source: towardsdev.com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A3AE0B-5011-457C-B93E-A9B162009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4309" y="2116318"/>
            <a:ext cx="4307265" cy="3051235"/>
          </a:xfrm>
          <a:prstGeom prst="rect">
            <a:avLst/>
          </a:prstGeom>
          <a:ln>
            <a:solidFill>
              <a:schemeClr val="accent2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EB01EF7-3AA4-4671-BE43-AB53638A7003}"/>
              </a:ext>
            </a:extLst>
          </p:cNvPr>
          <p:cNvSpPr/>
          <p:nvPr/>
        </p:nvSpPr>
        <p:spPr>
          <a:xfrm>
            <a:off x="11353800" y="6308209"/>
            <a:ext cx="4462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7812541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0FE27-5843-4F24-B8C4-5B10108AC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202" y="427660"/>
            <a:ext cx="10515600" cy="822652"/>
          </a:xfrm>
        </p:spPr>
        <p:txBody>
          <a:bodyPr>
            <a:normAutofit/>
          </a:bodyPr>
          <a:lstStyle/>
          <a:p>
            <a:pPr algn="just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LOSS AND ACCURACY CURVES FOR CNN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CE904A-8328-4116-8C0C-E56CD59D881D}"/>
              </a:ext>
            </a:extLst>
          </p:cNvPr>
          <p:cNvCxnSpPr>
            <a:cxnSpLocks/>
          </p:cNvCxnSpPr>
          <p:nvPr/>
        </p:nvCxnSpPr>
        <p:spPr>
          <a:xfrm>
            <a:off x="953678" y="1250312"/>
            <a:ext cx="1028464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85443138-A8E0-4714-8FB4-D54F9BC156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49604" y="1633358"/>
            <a:ext cx="9888718" cy="4644306"/>
          </a:xfrm>
          <a:prstGeom prst="rect">
            <a:avLst/>
          </a:prstGeom>
          <a:ln>
            <a:solidFill>
              <a:schemeClr val="accent2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C8B44E0-E2F1-4BE9-B182-6301885EE2B7}"/>
              </a:ext>
            </a:extLst>
          </p:cNvPr>
          <p:cNvSpPr/>
          <p:nvPr/>
        </p:nvSpPr>
        <p:spPr>
          <a:xfrm>
            <a:off x="11459838" y="6363092"/>
            <a:ext cx="46507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3783284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0FE27-5843-4F24-B8C4-5B10108AC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202" y="427660"/>
            <a:ext cx="10411120" cy="822573"/>
          </a:xfrm>
        </p:spPr>
        <p:txBody>
          <a:bodyPr>
            <a:normAutofit/>
          </a:bodyPr>
          <a:lstStyle/>
          <a:p>
            <a:pPr algn="just"/>
            <a:r>
              <a:rPr lang="en-US" sz="34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LOSS AND ACCURACY CURVES FOR DenseNet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CE904A-8328-4116-8C0C-E56CD59D881D}"/>
              </a:ext>
            </a:extLst>
          </p:cNvPr>
          <p:cNvCxnSpPr>
            <a:cxnSpLocks/>
          </p:cNvCxnSpPr>
          <p:nvPr/>
        </p:nvCxnSpPr>
        <p:spPr>
          <a:xfrm flipV="1">
            <a:off x="989814" y="1250312"/>
            <a:ext cx="9747316" cy="3453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68734AE3-68B3-4BC0-9EF6-493E7F6830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7202" y="1615375"/>
            <a:ext cx="10411119" cy="4814965"/>
          </a:xfrm>
          <a:prstGeom prst="rect">
            <a:avLst/>
          </a:prstGeom>
          <a:ln>
            <a:solidFill>
              <a:schemeClr val="accent2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BD5E5C0-9B18-4149-A406-ABFD3D393517}"/>
              </a:ext>
            </a:extLst>
          </p:cNvPr>
          <p:cNvSpPr/>
          <p:nvPr/>
        </p:nvSpPr>
        <p:spPr>
          <a:xfrm>
            <a:off x="11434713" y="6363093"/>
            <a:ext cx="5373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40919339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898B5-011A-436F-BE64-087DB02BF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LIMITED ACCURACY REASONS (CNNs)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360E8-DE42-447F-9402-EDCF0C742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49690"/>
          </a:xfrm>
        </p:spPr>
        <p:txBody>
          <a:bodyPr>
            <a:noAutofit/>
          </a:bodyPr>
          <a:lstStyle/>
          <a:p>
            <a:pPr algn="just"/>
            <a:r>
              <a:rPr lang="en-US" sz="3000" b="1" i="1" dirty="0">
                <a:latin typeface="Arial" panose="020B0604020202020204" pitchFamily="34" charset="0"/>
                <a:cs typeface="Arial" panose="020B0604020202020204" pitchFamily="34" charset="0"/>
              </a:rPr>
              <a:t>Data Complexity: </a:t>
            </a: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Some features might still be irrelevant, noisy, or redundant, affecting learning quality.</a:t>
            </a:r>
          </a:p>
          <a:p>
            <a:pPr algn="just"/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Models might be too strong (</a:t>
            </a:r>
            <a:r>
              <a:rPr lang="en-US" sz="3000" b="1" i="1" dirty="0">
                <a:latin typeface="Arial" panose="020B0604020202020204" pitchFamily="34" charset="0"/>
                <a:cs typeface="Arial" panose="020B0604020202020204" pitchFamily="34" charset="0"/>
              </a:rPr>
              <a:t>Overfitting) </a:t>
            </a: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the given data shape.</a:t>
            </a:r>
          </a:p>
          <a:p>
            <a:pPr algn="just"/>
            <a:r>
              <a:rPr lang="en-US" sz="3000" b="1" i="1" dirty="0">
                <a:latin typeface="Arial" panose="020B0604020202020204" pitchFamily="34" charset="0"/>
                <a:cs typeface="Arial" panose="020B0604020202020204" pitchFamily="34" charset="0"/>
              </a:rPr>
              <a:t>CNNs aren’t great at capturing time-based patterns.</a:t>
            </a:r>
          </a:p>
          <a:p>
            <a:pPr algn="just"/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Batch size / learning rate / Regularization experimentation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9739037-D2B2-40A1-B341-F068EFEA9538}"/>
              </a:ext>
            </a:extLst>
          </p:cNvPr>
          <p:cNvCxnSpPr>
            <a:cxnSpLocks/>
          </p:cNvCxnSpPr>
          <p:nvPr/>
        </p:nvCxnSpPr>
        <p:spPr>
          <a:xfrm>
            <a:off x="942680" y="1404594"/>
            <a:ext cx="10275217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A5546FB1-5BF3-4883-A550-5484996E4FAF}"/>
              </a:ext>
            </a:extLst>
          </p:cNvPr>
          <p:cNvSpPr/>
          <p:nvPr/>
        </p:nvSpPr>
        <p:spPr>
          <a:xfrm>
            <a:off x="11431556" y="6259398"/>
            <a:ext cx="521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2639397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54B00-8E21-4B50-8914-3BF87E89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CONT’d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09F14-D9DE-42A3-A701-976A1F152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269610" cy="4914541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sz="2300" b="1" dirty="0">
                <a:latin typeface="Arial" panose="020B0604020202020204" pitchFamily="34" charset="0"/>
                <a:cs typeface="Arial" panose="020B0604020202020204" pitchFamily="34" charset="0"/>
              </a:rPr>
              <a:t>Recurrent Neural Networks (RNNs)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Long-Short Term Memory Models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With GRU (Gated Recurrent Unit) Cells</a:t>
            </a:r>
          </a:p>
          <a:p>
            <a:pPr marL="457200" indent="-457200" algn="just">
              <a:buFont typeface="+mj-lt"/>
              <a:buAutoNum type="arabicPeriod"/>
            </a:pPr>
            <a:endParaRPr lang="en-US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80000"/>
              </a:lnSpc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Model – 1: GRU-Based Model with Two GRU Cells</a:t>
            </a:r>
          </a:p>
          <a:p>
            <a:pPr lvl="1" algn="just">
              <a:lnSpc>
                <a:spcPct val="80000"/>
              </a:lnSpc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Test Accuracy: 40%</a:t>
            </a:r>
          </a:p>
          <a:p>
            <a:pPr lvl="1" algn="just">
              <a:lnSpc>
                <a:spcPct val="80000"/>
              </a:lnSpc>
            </a:pP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80000"/>
              </a:lnSpc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Model – 2: GRU Stack with Batch Normalization</a:t>
            </a:r>
          </a:p>
          <a:p>
            <a:pPr lvl="1" algn="just">
              <a:lnSpc>
                <a:spcPct val="80000"/>
              </a:lnSpc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Test Accuracy: 50.83%</a:t>
            </a:r>
          </a:p>
          <a:p>
            <a:pPr lvl="1" algn="just">
              <a:lnSpc>
                <a:spcPct val="80000"/>
              </a:lnSpc>
            </a:pP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80000"/>
              </a:lnSpc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Model – 3: Two-Layer LSTM with Dropout</a:t>
            </a:r>
          </a:p>
          <a:p>
            <a:pPr lvl="1" algn="just">
              <a:lnSpc>
                <a:spcPct val="80000"/>
              </a:lnSpc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Test Accuracy: 60.83%</a:t>
            </a:r>
          </a:p>
          <a:p>
            <a:pPr lvl="1" algn="just">
              <a:lnSpc>
                <a:spcPct val="80000"/>
              </a:lnSpc>
            </a:pP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80000"/>
              </a:lnSpc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Model – 4: LSTM with BN and Learning Rate Decay</a:t>
            </a:r>
          </a:p>
          <a:p>
            <a:pPr lvl="1" algn="just">
              <a:lnSpc>
                <a:spcPct val="80000"/>
              </a:lnSpc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Test Accuracy: 66.67%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134644D-2E85-4E85-8331-BEFDDEBC31C2}"/>
              </a:ext>
            </a:extLst>
          </p:cNvPr>
          <p:cNvCxnSpPr>
            <a:cxnSpLocks/>
          </p:cNvCxnSpPr>
          <p:nvPr/>
        </p:nvCxnSpPr>
        <p:spPr>
          <a:xfrm>
            <a:off x="942680" y="1404594"/>
            <a:ext cx="1085889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5771522-6480-471F-8AD7-7DB196760839}"/>
              </a:ext>
            </a:extLst>
          </p:cNvPr>
          <p:cNvSpPr txBox="1"/>
          <p:nvPr/>
        </p:nvSpPr>
        <p:spPr>
          <a:xfrm>
            <a:off x="8879265" y="5581461"/>
            <a:ext cx="31296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Source: k21academy.com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EF4191-AA91-44DA-A963-D35CB6045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6620" y="1957243"/>
            <a:ext cx="4324954" cy="3496163"/>
          </a:xfrm>
          <a:prstGeom prst="rect">
            <a:avLst/>
          </a:prstGeom>
          <a:ln>
            <a:solidFill>
              <a:schemeClr val="accent2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6A9A250-6BE4-48CE-8A0B-5DD8EEA31E72}"/>
              </a:ext>
            </a:extLst>
          </p:cNvPr>
          <p:cNvSpPr/>
          <p:nvPr/>
        </p:nvSpPr>
        <p:spPr>
          <a:xfrm>
            <a:off x="11353800" y="6308209"/>
            <a:ext cx="50277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2693946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96492-0AE1-4C71-8B46-E57C36177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LOSS CURVES CONVERGENCES, CONT’d (LSTM &amp; GRU Cells)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1FEF55D-9FB6-4FEC-9F12-AE8D03EBD850}"/>
              </a:ext>
            </a:extLst>
          </p:cNvPr>
          <p:cNvCxnSpPr>
            <a:cxnSpLocks/>
          </p:cNvCxnSpPr>
          <p:nvPr/>
        </p:nvCxnSpPr>
        <p:spPr>
          <a:xfrm>
            <a:off x="961534" y="1690688"/>
            <a:ext cx="1015934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75DB2018-D0FA-42B4-A8A8-326E4B4866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1120" y="1900142"/>
            <a:ext cx="10049759" cy="4592733"/>
          </a:xfrm>
          <a:prstGeom prst="rect">
            <a:avLst/>
          </a:prstGeom>
          <a:ln>
            <a:solidFill>
              <a:schemeClr val="accent2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9E3FDDA-F653-443E-AEB7-ACA719E11114}"/>
              </a:ext>
            </a:extLst>
          </p:cNvPr>
          <p:cNvSpPr/>
          <p:nvPr/>
        </p:nvSpPr>
        <p:spPr>
          <a:xfrm>
            <a:off x="11506970" y="6308209"/>
            <a:ext cx="5781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6721269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8CDFB-C065-4B8E-B129-DCD20349C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EVALUATION (RNNs)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4BD9B-757E-46F4-A96B-93869567C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Accuracy improved as models became more advanced and better regularized.</a:t>
            </a:r>
          </a:p>
          <a:p>
            <a:pPr algn="just"/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Batch Normalization, Dropout, Dense bottleneck layers and learning rate scheduling helped.</a:t>
            </a:r>
          </a:p>
          <a:p>
            <a:pPr algn="just"/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All these kind of enhanced stabilized training, reduced overfitting and tried to reasonably extract patterns.</a:t>
            </a:r>
          </a:p>
          <a:p>
            <a:pPr algn="just"/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However, accuracy stayed within 60%-70%, possibly due to limitations also seen in DenseNet but with I think more lack of sufficient temporal dependencies captures.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8B5F609-C38A-4349-82B2-58E02CEE65F9}"/>
              </a:ext>
            </a:extLst>
          </p:cNvPr>
          <p:cNvCxnSpPr>
            <a:cxnSpLocks/>
          </p:cNvCxnSpPr>
          <p:nvPr/>
        </p:nvCxnSpPr>
        <p:spPr>
          <a:xfrm>
            <a:off x="925005" y="1407884"/>
            <a:ext cx="1034198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05E824FC-E203-4048-A631-F3D8233D63C6}"/>
              </a:ext>
            </a:extLst>
          </p:cNvPr>
          <p:cNvSpPr/>
          <p:nvPr/>
        </p:nvSpPr>
        <p:spPr>
          <a:xfrm>
            <a:off x="11266994" y="6311900"/>
            <a:ext cx="4556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40174369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05A3C-B9A7-49B8-8D8C-19EB927C3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 (SEQUENCE BASED CLASSIFICATION)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D9BD7-8176-48DC-A51B-BFD20955E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1454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b="1" dirty="0"/>
              <a:t>For Transformer feeding, all the data kept as it was. Like there is no trimming of columns or rows.</a:t>
            </a:r>
          </a:p>
          <a:p>
            <a:pPr algn="just"/>
            <a:r>
              <a:rPr lang="en-US" b="1" dirty="0"/>
              <a:t>There is no skipping of CSV files.</a:t>
            </a:r>
          </a:p>
          <a:p>
            <a:pPr algn="just"/>
            <a:r>
              <a:rPr lang="en-US" b="1" dirty="0"/>
              <a:t>All the accidents are taken into account including NORM as well.</a:t>
            </a:r>
          </a:p>
          <a:p>
            <a:pPr algn="just"/>
            <a:r>
              <a:rPr lang="en-US" b="1" dirty="0"/>
              <a:t>A python is coded to do above all mentioned and got the result as</a:t>
            </a:r>
          </a:p>
          <a:p>
            <a:pPr algn="just"/>
            <a:r>
              <a:rPr lang="en-US" b="1" i="1" dirty="0">
                <a:solidFill>
                  <a:schemeClr val="accent2"/>
                </a:solidFill>
              </a:rPr>
              <a:t>It’s a sequence classification problem over time</a:t>
            </a:r>
          </a:p>
          <a:p>
            <a:pPr marL="0" indent="0" algn="just">
              <a:buNone/>
            </a:pPr>
            <a:endParaRPr lang="en-US" b="1" dirty="0"/>
          </a:p>
          <a:p>
            <a:pPr marL="0" indent="0" algn="just">
              <a:buNone/>
            </a:pPr>
            <a:r>
              <a:rPr lang="en-US" b="1" i="1" dirty="0"/>
              <a:t>Total sequences: (9386, 50, 96) </a:t>
            </a:r>
          </a:p>
          <a:p>
            <a:pPr marL="0" indent="0" algn="just">
              <a:buNone/>
            </a:pPr>
            <a:r>
              <a:rPr lang="en-US" b="1" i="1" dirty="0"/>
              <a:t>Label map: {0: 'SLBIC', 1: 'FLB', 2: 'SP', 3: 'SGBTR', 4: 'LLB', 5: 'TT', 6: 'RI', 7: 'SGATR', 8: 'LACP', 9: 'LOCAC', 10: 'RW', 11: 'MD', 12: 'ATWS', 13: 'LOCA', 14: 'SLBOC', 15: 'LR', 16: 'Normal', 17: 'LOF'}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649317E-CA05-48C7-B1BB-402385693AD0}"/>
              </a:ext>
            </a:extLst>
          </p:cNvPr>
          <p:cNvCxnSpPr>
            <a:cxnSpLocks/>
          </p:cNvCxnSpPr>
          <p:nvPr/>
        </p:nvCxnSpPr>
        <p:spPr>
          <a:xfrm>
            <a:off x="925005" y="1407884"/>
            <a:ext cx="1034198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2EEFA275-D17A-435F-BF0C-E4526A69DDC9}"/>
              </a:ext>
            </a:extLst>
          </p:cNvPr>
          <p:cNvSpPr/>
          <p:nvPr/>
        </p:nvSpPr>
        <p:spPr>
          <a:xfrm>
            <a:off x="11459836" y="6370833"/>
            <a:ext cx="56876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5743559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37EBD-307A-4FA0-872A-6DD06D999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DEFINING TRANSFORMER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28E71-4A54-4D3A-B3C4-82F29D1DF5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US" b="1" dirty="0"/>
              <a:t>A custom Transformer built using PyTorch for sequence classification.</a:t>
            </a:r>
          </a:p>
          <a:p>
            <a:pPr algn="just"/>
            <a:r>
              <a:rPr lang="en-US" b="1" dirty="0"/>
              <a:t>Input Parameters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b="1" dirty="0"/>
              <a:t>input_size = 96 (Each time step has 96 features)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b="1" dirty="0"/>
              <a:t>num_classes = 18 (Predicts on of 18 possible classes)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b="1" dirty="0"/>
              <a:t>num_heads = 4 (Multi-head attention with 4 heads)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b="1" dirty="0"/>
              <a:t>num_layers = 3 (Stack 3 transformer encoder layers)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b="1" dirty="0"/>
              <a:t>hidden_dim = 64 (Each encoder layer has a feedforward network of size 64)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b="1" dirty="0"/>
              <a:t>dropout = 0.1 (Dropout applied for regularization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nn.TransformerEncoderLayer: Handles self-attention and feedforward processing.</a:t>
            </a:r>
          </a:p>
          <a:p>
            <a:pPr algn="just"/>
            <a:r>
              <a:rPr lang="en-US" b="1" dirty="0"/>
              <a:t>nn.TransformerEncoder: Stacks multiple encoder layers to learn deep temporal patterns</a:t>
            </a:r>
          </a:p>
          <a:p>
            <a:pPr algn="just"/>
            <a:r>
              <a:rPr lang="en-US" b="1" dirty="0"/>
              <a:t>nn.linear: Final fully connected layer to classify the sequence.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6EB5265-BF63-431B-A3F5-455F3CE129BC}"/>
              </a:ext>
            </a:extLst>
          </p:cNvPr>
          <p:cNvCxnSpPr>
            <a:cxnSpLocks/>
          </p:cNvCxnSpPr>
          <p:nvPr/>
        </p:nvCxnSpPr>
        <p:spPr>
          <a:xfrm>
            <a:off x="925005" y="1407884"/>
            <a:ext cx="1034198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DB75A822-2A18-449E-92BC-29DA69CE9B0C}"/>
              </a:ext>
            </a:extLst>
          </p:cNvPr>
          <p:cNvSpPr/>
          <p:nvPr/>
        </p:nvSpPr>
        <p:spPr>
          <a:xfrm>
            <a:off x="11266994" y="6308209"/>
            <a:ext cx="6253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41186927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955F7-8454-424E-90E9-1D6A81A2E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5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TRANSFORMER TRAINING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2D48B-39A0-4828-93A0-FE53CDCD7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 Split: The dataset is split into 80% training and 20% testing with stratified labels for balanced class distribution.</a:t>
            </a:r>
          </a:p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 Conversion: All data is converted to PyTorch tensors and wrapped in DataLoaders for efficient batch processing.</a:t>
            </a:r>
          </a:p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CrossEntropyLoss with Adam Optimizer is used.</a:t>
            </a:r>
          </a:p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 model is trained for just 20 epochs with back propagation.</a:t>
            </a:r>
          </a:p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Model is then saved as transformer.pth and StandardScaler used during preprocessing too as scaler.pth</a:t>
            </a:r>
          </a:p>
          <a:p>
            <a:pPr marL="0" indent="0" algn="just">
              <a:buNone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3B97E5F-01BA-46BC-86E9-79D035A0BE42}"/>
              </a:ext>
            </a:extLst>
          </p:cNvPr>
          <p:cNvCxnSpPr>
            <a:cxnSpLocks/>
          </p:cNvCxnSpPr>
          <p:nvPr/>
        </p:nvCxnSpPr>
        <p:spPr>
          <a:xfrm>
            <a:off x="1011811" y="1370177"/>
            <a:ext cx="1034198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A51305F9-8201-4836-8F1C-14BB84C092DE}"/>
              </a:ext>
            </a:extLst>
          </p:cNvPr>
          <p:cNvSpPr/>
          <p:nvPr/>
        </p:nvSpPr>
        <p:spPr>
          <a:xfrm>
            <a:off x="11353800" y="6308209"/>
            <a:ext cx="4556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9139226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25A5E-3DAC-400C-8684-3518DA264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6015"/>
            <a:ext cx="10515600" cy="1325563"/>
          </a:xfrm>
        </p:spPr>
        <p:txBody>
          <a:bodyPr/>
          <a:lstStyle/>
          <a:p>
            <a:r>
              <a:rPr lang="en-US" sz="35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LOSS CONVERGENCE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36E9B7-B5EF-498A-8D6E-29527C8C10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78005" y="2071233"/>
            <a:ext cx="8235987" cy="4506484"/>
          </a:xfrm>
          <a:prstGeom prst="rect">
            <a:avLst/>
          </a:prstGeom>
          <a:ln>
            <a:solidFill>
              <a:schemeClr val="accent2"/>
            </a:solidFill>
          </a:ln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EB23991-2A13-4F36-B23E-D075B28E7C26}"/>
              </a:ext>
            </a:extLst>
          </p:cNvPr>
          <p:cNvCxnSpPr>
            <a:cxnSpLocks/>
          </p:cNvCxnSpPr>
          <p:nvPr/>
        </p:nvCxnSpPr>
        <p:spPr>
          <a:xfrm>
            <a:off x="925005" y="1247628"/>
            <a:ext cx="1034198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34555EB-88F7-4115-8912-D2CBC472092F}"/>
              </a:ext>
            </a:extLst>
          </p:cNvPr>
          <p:cNvSpPr txBox="1"/>
          <p:nvPr/>
        </p:nvSpPr>
        <p:spPr>
          <a:xfrm>
            <a:off x="2196446" y="1364563"/>
            <a:ext cx="76027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u="sng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reached a test accuracy of 94.25%</a:t>
            </a:r>
            <a:endParaRPr lang="en-US" sz="2800" b="1" dirty="0">
              <a:solidFill>
                <a:schemeClr val="accent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28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E21314-6908-4925-9008-DA9B5AAEC766}"/>
              </a:ext>
            </a:extLst>
          </p:cNvPr>
          <p:cNvSpPr/>
          <p:nvPr/>
        </p:nvSpPr>
        <p:spPr>
          <a:xfrm>
            <a:off x="11422130" y="6208385"/>
            <a:ext cx="46507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629244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CDC99-BD84-4A83-96F5-99D200F53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5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SCOPE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9ACB7-09B0-4BDC-B527-05767338A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As we have achieved the accuracy, but it’s still AI and we cannot hand over the whole nuclear operations to it alone.</a:t>
            </a:r>
          </a:p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Human check will always be there.</a:t>
            </a:r>
          </a:p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This project is kind of an effort toward incorporation of AI into NPPs operations, safety and handling.</a:t>
            </a:r>
          </a:p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This system is designed to assist operators, not replace them — serving as an early warning tool to detect anomalies before they escalate.</a:t>
            </a:r>
          </a:p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AI into nuclear plant operations represents a step toward smart, data-driven decision-making, enhancing both safety and efficiency under human supervision.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02FE353-E60D-4367-9085-F702115A4B68}"/>
              </a:ext>
            </a:extLst>
          </p:cNvPr>
          <p:cNvCxnSpPr>
            <a:cxnSpLocks/>
          </p:cNvCxnSpPr>
          <p:nvPr/>
        </p:nvCxnSpPr>
        <p:spPr>
          <a:xfrm>
            <a:off x="925005" y="1379604"/>
            <a:ext cx="1034198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3B6499C1-BC9F-41DD-A8E1-6DE6CA043745}"/>
              </a:ext>
            </a:extLst>
          </p:cNvPr>
          <p:cNvSpPr/>
          <p:nvPr/>
        </p:nvSpPr>
        <p:spPr>
          <a:xfrm>
            <a:off x="11353800" y="6176963"/>
            <a:ext cx="4556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7688253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15B29-E495-4C53-AC3F-7C23D3408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5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STILL, FOR CONTINUOUS MONITORING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DFBB5-8FB5-49BD-8D35-B48E91A8B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96419"/>
            <a:ext cx="10515600" cy="497406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A new python script is coded to monitor a folder in real time, looking for new .csv files containing sensor readings and then detect if any abnormal event is happening on those readings using this pre-trained Transformer model. Now what the script does is:</a:t>
            </a:r>
          </a:p>
          <a:p>
            <a:pPr lvl="0" algn="just"/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Loads the saved model i.e., trained transformer, from a .pth file.</a:t>
            </a:r>
          </a:p>
          <a:p>
            <a:pPr lvl="0" algn="just"/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It also uses a saved (trained on dataset) StandardScaler to normalize the input data, ensuing values are within a consistent range as it was during the training.</a:t>
            </a:r>
          </a:p>
          <a:p>
            <a:pPr lvl="0" algn="just"/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It keeps watching a specified folder (we can also change the path) /live_data for new .csv files.</a:t>
            </a:r>
          </a:p>
          <a:p>
            <a:pPr lvl="0" algn="just"/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Every few seconds (default is set 5), it checks if new files have arrived and do the required CSV file processing.</a:t>
            </a:r>
          </a:p>
          <a:p>
            <a:pPr lvl="0" algn="just"/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Now for each sequence, the model predicts a class label (e.g., “LCOA”, “NORMAL”, “RW”, etc.).</a:t>
            </a:r>
          </a:p>
          <a:p>
            <a:pPr lvl="0" algn="just"/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If the label is anything other than “NORMAL”, it prints an alert with the predicted anomaly name.</a:t>
            </a:r>
          </a:p>
          <a:p>
            <a:pPr lvl="0" algn="just"/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If it’s “NORMAL”, it simply logs that as information.</a:t>
            </a:r>
          </a:p>
          <a:p>
            <a:pPr marL="0" indent="0" algn="just">
              <a:buNone/>
            </a:pPr>
            <a:endParaRPr lang="en-US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51FA7AC-4FE2-4581-88BC-A93DCAB2FBE1}"/>
              </a:ext>
            </a:extLst>
          </p:cNvPr>
          <p:cNvCxnSpPr>
            <a:cxnSpLocks/>
          </p:cNvCxnSpPr>
          <p:nvPr/>
        </p:nvCxnSpPr>
        <p:spPr>
          <a:xfrm>
            <a:off x="925005" y="1398457"/>
            <a:ext cx="1034198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F469FC17-7E83-4439-B215-D41547740557}"/>
              </a:ext>
            </a:extLst>
          </p:cNvPr>
          <p:cNvSpPr/>
          <p:nvPr/>
        </p:nvSpPr>
        <p:spPr>
          <a:xfrm>
            <a:off x="11353799" y="6308209"/>
            <a:ext cx="50277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35334087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9168D-CF23-48A2-AD61-DB07201A4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5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A2536-7A8E-4DDE-B3E2-DD82363FF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8807"/>
            <a:ext cx="10515600" cy="4884063"/>
          </a:xfrm>
        </p:spPr>
        <p:txBody>
          <a:bodyPr>
            <a:noAutofit/>
          </a:bodyPr>
          <a:lstStyle/>
          <a:p>
            <a:pPr algn="just"/>
            <a:r>
              <a:rPr lang="en-US" sz="2300" b="1" dirty="0">
                <a:latin typeface="Arial" panose="020B0604020202020204" pitchFamily="34" charset="0"/>
                <a:cs typeface="Arial" panose="020B0604020202020204" pitchFamily="34" charset="0"/>
              </a:rPr>
              <a:t>Model performances varied widely, showing how architectures and training strategies directly affect accuracy and stability.</a:t>
            </a:r>
          </a:p>
          <a:p>
            <a:pPr algn="just"/>
            <a:r>
              <a:rPr lang="en-US" sz="2300" b="1" dirty="0">
                <a:latin typeface="Arial" panose="020B0604020202020204" pitchFamily="34" charset="0"/>
                <a:cs typeface="Arial" panose="020B0604020202020204" pitchFamily="34" charset="0"/>
              </a:rPr>
              <a:t>Single-layer MLP (Model – 1) achieved highest classification accuracy  (92.50%), likely due to stable and extended training.</a:t>
            </a:r>
          </a:p>
          <a:p>
            <a:pPr algn="just"/>
            <a:r>
              <a:rPr lang="en-US" sz="2300" b="1" dirty="0">
                <a:latin typeface="Arial" panose="020B0604020202020204" pitchFamily="34" charset="0"/>
                <a:cs typeface="Arial" panose="020B0604020202020204" pitchFamily="34" charset="0"/>
              </a:rPr>
              <a:t>Deeper MLPs and DenseNet struggled with instability, with DenseNet plateauing around 54-56%, suggesting it may be over-parameterized for this dataset.</a:t>
            </a:r>
          </a:p>
          <a:p>
            <a:pPr algn="just"/>
            <a:r>
              <a:rPr lang="en-US" sz="2300" b="1" dirty="0">
                <a:latin typeface="Arial" panose="020B0604020202020204" pitchFamily="34" charset="0"/>
                <a:cs typeface="Arial" panose="020B0604020202020204" pitchFamily="34" charset="0"/>
              </a:rPr>
              <a:t>LSTM-based models outperformed GRUs when enhanced with Batch Normalization and learning rate scheduling.</a:t>
            </a:r>
          </a:p>
          <a:p>
            <a:pPr algn="just"/>
            <a:r>
              <a:rPr lang="en-US" sz="2300" b="1" dirty="0">
                <a:latin typeface="Arial" panose="020B0604020202020204" pitchFamily="34" charset="0"/>
                <a:cs typeface="Arial" panose="020B0604020202020204" pitchFamily="34" charset="0"/>
              </a:rPr>
              <a:t>Transformer with 03 Encoder blocks achieved the best overall performance (94.25%), proving highly effective for sequential data due to multi-head attention and paves way for incoming readings classification. (We can adjust the timestamps and detection time)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86C1CDB-B9E8-4842-88C1-5B2BF762D67D}"/>
              </a:ext>
            </a:extLst>
          </p:cNvPr>
          <p:cNvCxnSpPr>
            <a:cxnSpLocks/>
          </p:cNvCxnSpPr>
          <p:nvPr/>
        </p:nvCxnSpPr>
        <p:spPr>
          <a:xfrm>
            <a:off x="1011811" y="1398457"/>
            <a:ext cx="1034198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F709A383-28AA-469B-8068-58E630A5338C}"/>
              </a:ext>
            </a:extLst>
          </p:cNvPr>
          <p:cNvSpPr/>
          <p:nvPr/>
        </p:nvSpPr>
        <p:spPr>
          <a:xfrm>
            <a:off x="11431557" y="6353666"/>
            <a:ext cx="4933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24345308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15BB4-0DBD-4E87-AB2F-49DAAAFC3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5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Links to Code-Notebooks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27EB3-CAF5-477B-997C-FED7BF584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Python script for extracting CSV files form repository: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https://colab.research.google.com/drive/1ZwPpMr06Ad2Uepk_dzVjvoTaDGWenNmI?usp=sharing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Transformer Model scripts.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https://colab.research.google.com/drive/1oFhA62HBbNCYcPaVACnpXf3kewtud_g4?usp=sharing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Scripts for data preprocessing, normalization, model training (MLPs, CNNs and RNNs), and saving/loading models.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https://drive.google.com/drive/folders/1KkLwm1YEdo8zUuavMGWhISLVXSSmiUvz?usp=drive_link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F0169B7-54F5-41CE-AE6F-20052AD1BC8B}"/>
              </a:ext>
            </a:extLst>
          </p:cNvPr>
          <p:cNvCxnSpPr>
            <a:cxnSpLocks/>
          </p:cNvCxnSpPr>
          <p:nvPr/>
        </p:nvCxnSpPr>
        <p:spPr>
          <a:xfrm>
            <a:off x="925005" y="1407884"/>
            <a:ext cx="1034198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EF71B9B4-9F94-4F45-8100-C0152BE98865}"/>
              </a:ext>
            </a:extLst>
          </p:cNvPr>
          <p:cNvSpPr/>
          <p:nvPr/>
        </p:nvSpPr>
        <p:spPr>
          <a:xfrm>
            <a:off x="11353800" y="6308209"/>
            <a:ext cx="4933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8624433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C1A19-9600-4DB0-8873-5D5306F010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 FOR YOUR TIME AND ATTENTION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72F10DC-AB11-4512-BD06-E9D710868F45}"/>
              </a:ext>
            </a:extLst>
          </p:cNvPr>
          <p:cNvCxnSpPr>
            <a:cxnSpLocks/>
          </p:cNvCxnSpPr>
          <p:nvPr/>
        </p:nvCxnSpPr>
        <p:spPr>
          <a:xfrm>
            <a:off x="1011811" y="4122804"/>
            <a:ext cx="1034198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998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878</TotalTime>
  <Words>2404</Words>
  <Application>Microsoft Office PowerPoint</Application>
  <PresentationFormat>Widescreen</PresentationFormat>
  <Paragraphs>278</Paragraphs>
  <Slides>31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Calibri Light</vt:lpstr>
      <vt:lpstr>Cambria Math</vt:lpstr>
      <vt:lpstr>Wingdings</vt:lpstr>
      <vt:lpstr>Office Theme</vt:lpstr>
      <vt:lpstr>DEVELOPMENT OF AN ANOMALY DETECTION SYSTEM FOR NUCLEAR POWER PLANTS USING TRANSFORMER MODELS</vt:lpstr>
      <vt:lpstr>PRESENTATION LAYOUT</vt:lpstr>
      <vt:lpstr>INTRODUCTION</vt:lpstr>
      <vt:lpstr>OBJECTIVES</vt:lpstr>
      <vt:lpstr>LITERATURE REVIEW</vt:lpstr>
      <vt:lpstr>PRESSURIZED WATER REACTORS</vt:lpstr>
      <vt:lpstr> CONT’d</vt:lpstr>
      <vt:lpstr>ACCIDENTS</vt:lpstr>
      <vt:lpstr>PAPERS REVIEW</vt:lpstr>
      <vt:lpstr>DEEP LEARNING ARCHITECTURES</vt:lpstr>
      <vt:lpstr>Following Python script was coded for extracting the data from repository.</vt:lpstr>
      <vt:lpstr>METHODOLOGY</vt:lpstr>
      <vt:lpstr>PowerPoint Presentation</vt:lpstr>
      <vt:lpstr>RESULTS (CLASSIFICATION PART)</vt:lpstr>
      <vt:lpstr>LOSS CURVES CONVERGENCES, CONT’d (MLPs)</vt:lpstr>
      <vt:lpstr>CONT’d</vt:lpstr>
      <vt:lpstr>LOSS AND ACCURACY CURVES FOR CNN</vt:lpstr>
      <vt:lpstr>LOSS AND ACCURACY CURVES FOR DenseNet</vt:lpstr>
      <vt:lpstr>LIMITED ACCURACY REASONS (CNNs)</vt:lpstr>
      <vt:lpstr>CONT’d</vt:lpstr>
      <vt:lpstr>LOSS CURVES CONVERGENCES, CONT’d (LSTM &amp; GRU Cells)</vt:lpstr>
      <vt:lpstr>EVALUATION (RNNs)</vt:lpstr>
      <vt:lpstr>RESULTS (SEQUENCE BASED CLASSIFICATION) </vt:lpstr>
      <vt:lpstr>DEFINING TRANSFORMER ARCHITECTURE</vt:lpstr>
      <vt:lpstr>TRANSFORMER TRAINING PIPELINE</vt:lpstr>
      <vt:lpstr>LOSS CONVERGENCE </vt:lpstr>
      <vt:lpstr>SCOPE OF THE PROJECT</vt:lpstr>
      <vt:lpstr>STILL, FOR CONTINUOUS MONITORING</vt:lpstr>
      <vt:lpstr>CONCLUSION</vt:lpstr>
      <vt:lpstr>Links to Code-Notebooks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DEVELOPMENT OF AN ANOMALY DETECTION SYSTEM FOR NUCLEAR POWER PLANTS USING TRANSFORMER MODELS</dc:title>
  <dc:creator>Danyal Nazeer</dc:creator>
  <cp:lastModifiedBy>Danyal Nazeer</cp:lastModifiedBy>
  <cp:revision>30</cp:revision>
  <dcterms:created xsi:type="dcterms:W3CDTF">2025-06-18T08:46:03Z</dcterms:created>
  <dcterms:modified xsi:type="dcterms:W3CDTF">2025-06-19T04:45:03Z</dcterms:modified>
</cp:coreProperties>
</file>